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imo" panose="020B0604020202020204" pitchFamily="34" charset="0"/>
      <p:regular r:id="rId20"/>
      <p:bold r:id="rId21"/>
      <p:italic r:id="rId22"/>
      <p:boldItalic r:id="rId23"/>
    </p:embeddedFont>
    <p:embeddedFont>
      <p:font typeface="Calibri (MS)" panose="020B0604020202020204" charset="0"/>
      <p:regular r:id="rId24"/>
    </p:embeddedFont>
    <p:embeddedFont>
      <p:font typeface="Times New Roman Bold" panose="02020803070505020304" pitchFamily="18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haarao/ai-traffic-alert-routing-syste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7775" y="872376"/>
            <a:ext cx="15773400" cy="4279106"/>
            <a:chOff x="0" y="0"/>
            <a:chExt cx="21031200" cy="5705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5705474"/>
            </a:xfrm>
            <a:custGeom>
              <a:avLst/>
              <a:gdLst/>
              <a:ahLst/>
              <a:cxnLst/>
              <a:rect l="l" t="t" r="r" b="b"/>
              <a:pathLst>
                <a:path w="21031200" h="5705474">
                  <a:moveTo>
                    <a:pt x="0" y="0"/>
                  </a:moveTo>
                  <a:lnTo>
                    <a:pt x="21031200" y="0"/>
                  </a:lnTo>
                  <a:lnTo>
                    <a:pt x="21031200" y="5705474"/>
                  </a:lnTo>
                  <a:lnTo>
                    <a:pt x="0" y="57054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21031200" cy="57912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Agentic AI Hackathon: Building Intelligent Agents with IBM Granite and LangFlow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8" r="-798" b="6"/>
              </a:stretch>
            </a:blipFill>
          </p:spPr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A1A5880-F225-6391-15D9-89633CD47511}"/>
              </a:ext>
            </a:extLst>
          </p:cNvPr>
          <p:cNvSpPr txBox="1"/>
          <p:nvPr/>
        </p:nvSpPr>
        <p:spPr>
          <a:xfrm>
            <a:off x="1883065" y="5927385"/>
            <a:ext cx="15925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AI-Driven Traffic Alert And Route Planning System</a:t>
            </a:r>
            <a:endParaRPr lang="en-IN" sz="5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67706" y="725871"/>
            <a:ext cx="10952588" cy="1049951"/>
            <a:chOff x="0" y="0"/>
            <a:chExt cx="14603451" cy="13999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03456" cy="1399939"/>
            </a:xfrm>
            <a:custGeom>
              <a:avLst/>
              <a:gdLst/>
              <a:ahLst/>
              <a:cxnLst/>
              <a:rect l="l" t="t" r="r" b="b"/>
              <a:pathLst>
                <a:path w="14603456" h="1399939">
                  <a:moveTo>
                    <a:pt x="0" y="0"/>
                  </a:moveTo>
                  <a:lnTo>
                    <a:pt x="14603456" y="0"/>
                  </a:lnTo>
                  <a:lnTo>
                    <a:pt x="14603456" y="1399939"/>
                  </a:lnTo>
                  <a:lnTo>
                    <a:pt x="0" y="13999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4603451" cy="13713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70"/>
                </a:lnSpc>
              </a:pPr>
              <a:r>
                <a:rPr lang="en-US" sz="5250" b="1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Name of the team: Invariant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43358" y="1775822"/>
            <a:ext cx="11139611" cy="839962"/>
            <a:chOff x="0" y="0"/>
            <a:chExt cx="14852815" cy="11199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852813" cy="1119953"/>
            </a:xfrm>
            <a:custGeom>
              <a:avLst/>
              <a:gdLst/>
              <a:ahLst/>
              <a:cxnLst/>
              <a:rect l="l" t="t" r="r" b="b"/>
              <a:pathLst>
                <a:path w="14852813" h="1119953">
                  <a:moveTo>
                    <a:pt x="0" y="0"/>
                  </a:moveTo>
                  <a:lnTo>
                    <a:pt x="14852813" y="0"/>
                  </a:lnTo>
                  <a:lnTo>
                    <a:pt x="14852813" y="1119953"/>
                  </a:lnTo>
                  <a:lnTo>
                    <a:pt x="0" y="11199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4852815" cy="10913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36"/>
                </a:lnSpc>
              </a:pPr>
              <a:r>
                <a:rPr lang="en-US" sz="42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Details of Team members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393439" y="3544428"/>
          <a:ext cx="10839449" cy="4591997"/>
        </p:xfrm>
        <a:graphic>
          <a:graphicData uri="http://schemas.openxmlformats.org/drawingml/2006/table">
            <a:tbl>
              <a:tblPr/>
              <a:tblGrid>
                <a:gridCol w="2386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18675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TEAM MEMBER NAME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Recent Passport Photo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Email ID 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 number</a:t>
                      </a:r>
                      <a:endParaRPr lang="en-US" sz="1100"/>
                    </a:p>
                    <a:p>
                      <a:pPr algn="ctr">
                        <a:lnSpc>
                          <a:spcPts val="3120"/>
                        </a:lnSpc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[WhatsApp] </a:t>
                      </a:r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9668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Iha Rao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ihaarao@kssem.edu.in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9972487738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3654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 .Trisha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trishamohan1974@gmail.com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6360887235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6521950" y="6587964"/>
            <a:ext cx="1182464" cy="1427679"/>
            <a:chOff x="0" y="0"/>
            <a:chExt cx="1738884" cy="2099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38884" cy="2099437"/>
            </a:xfrm>
            <a:custGeom>
              <a:avLst/>
              <a:gdLst/>
              <a:ahLst/>
              <a:cxnLst/>
              <a:rect l="l" t="t" r="r" b="b"/>
              <a:pathLst>
                <a:path w="1738884" h="2099437">
                  <a:moveTo>
                    <a:pt x="0" y="0"/>
                  </a:moveTo>
                  <a:lnTo>
                    <a:pt x="1738884" y="0"/>
                  </a:lnTo>
                  <a:lnTo>
                    <a:pt x="1738884" y="2099437"/>
                  </a:lnTo>
                  <a:lnTo>
                    <a:pt x="0" y="2099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22" b="-352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521950" y="5143500"/>
            <a:ext cx="1182464" cy="1323136"/>
            <a:chOff x="0" y="0"/>
            <a:chExt cx="1711012" cy="1914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10984" cy="1914525"/>
            </a:xfrm>
            <a:custGeom>
              <a:avLst/>
              <a:gdLst/>
              <a:ahLst/>
              <a:cxnLst/>
              <a:rect l="l" t="t" r="r" b="b"/>
              <a:pathLst>
                <a:path w="1710984" h="1914525">
                  <a:moveTo>
                    <a:pt x="0" y="0"/>
                  </a:moveTo>
                  <a:lnTo>
                    <a:pt x="1710984" y="0"/>
                  </a:lnTo>
                  <a:lnTo>
                    <a:pt x="1710984" y="1914525"/>
                  </a:lnTo>
                  <a:lnTo>
                    <a:pt x="0" y="1914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674" b="-3674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22726" y="2375055"/>
            <a:ext cx="11242548" cy="5507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“AI-Driven Early Warning System for Traffic Congestion Hotspots”</a:t>
            </a:r>
          </a:p>
          <a:p>
            <a:pPr algn="just">
              <a:lnSpc>
                <a:spcPts val="2759"/>
              </a:lnSpc>
            </a:pPr>
            <a:endParaRPr lang="en-US" sz="31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2759"/>
              </a:lnSpc>
            </a:pPr>
            <a:endParaRPr lang="en-US" sz="31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4516" lvl="1" indent="-302258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urbanization has led to frequent traffic congestion hotspots in cities</a:t>
            </a:r>
          </a:p>
          <a:p>
            <a:pPr marL="604516" lvl="1" indent="-302258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systems are reactive, identifying congestion only after it occurs</a:t>
            </a:r>
          </a:p>
          <a:p>
            <a:pPr marL="604516" lvl="1" indent="-302258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early warning mechanisms prevents timely traffic management actions</a:t>
            </a:r>
          </a:p>
          <a:p>
            <a:pPr marL="604516" lvl="1" indent="-302258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Commuters face increased:</a:t>
            </a:r>
          </a:p>
          <a:p>
            <a:pPr marL="1209032" lvl="2" indent="-403011" algn="just">
              <a:lnSpc>
                <a:spcPts val="335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Travel time</a:t>
            </a:r>
          </a:p>
          <a:p>
            <a:pPr marL="1209032" lvl="2" indent="-403011" algn="just">
              <a:lnSpc>
                <a:spcPts val="335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Fuel consumption</a:t>
            </a:r>
          </a:p>
          <a:p>
            <a:pPr marL="1209032" lvl="2" indent="-403011" algn="just">
              <a:lnSpc>
                <a:spcPts val="335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Stress and uncertainty</a:t>
            </a:r>
          </a:p>
          <a:p>
            <a:pPr marL="604516" lvl="1" indent="-302258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authorities need predictive insights to proactively manage congestion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74375" y="1000125"/>
            <a:ext cx="5566511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 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47710" y="3058775"/>
            <a:ext cx="12392571" cy="508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an AI-driven traffic alert and route planning system using Langflow and IBM watsonx.ai.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user inputs (location, time, weather, traffic) through a multi-agent AI architecture.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congestion early and estimate delay, clearance time, and risk level.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clear ALERT-based outputs with commuter advice and accurate alternate routes.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Retrieval-Augmented Generation (RAG) to ground responses in traffic guidelines and historical patterns.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 scalable, explainable, and location-aware traffic intelligence for global use.</a:t>
            </a:r>
          </a:p>
          <a:p>
            <a:pPr algn="just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706014" y="1000125"/>
            <a:ext cx="5401822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 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63969" y="3847889"/>
            <a:ext cx="14360061" cy="2591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Urban traffic congestion causes </a:t>
            </a:r>
            <a:r>
              <a:rPr lang="en-US" sz="27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20–30%</a:t>
            </a: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extra travel time for daily commuters in major cities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Indian metro cities, peak-hour speeds drop by </a:t>
            </a:r>
            <a:r>
              <a:rPr lang="en-US" sz="27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40–60%</a:t>
            </a: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compared to free-flow conditions 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Commuters lose </a:t>
            </a:r>
            <a:r>
              <a:rPr lang="en-US" sz="27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100–150 hours per year </a:t>
            </a: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stuck in traffic delays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Fuel consumption increases by </a:t>
            </a:r>
            <a:r>
              <a:rPr lang="en-US" sz="27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15–25% </a:t>
            </a: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stop-and-go congestion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Emergency response times can increase by </a:t>
            </a:r>
            <a:r>
              <a:rPr lang="en-US" sz="27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30–50%</a:t>
            </a: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during heavy congestion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GPS apps react after congestion occurs, ours predicts before hand.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40587" y="1000125"/>
            <a:ext cx="4206826" cy="75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Need of project 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02032" y="3617183"/>
            <a:ext cx="13483935" cy="2976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Commuters – to receive real-time traffic alerts and alternate routes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 &amp; Corporate Employees – for optimized daily commute planning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Logistics &amp; Delivery Services – to reduce delivery delays and fuel costs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Transport Operators – for congestion-aware route decisions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Emergency Services – to identify less congested routes quickly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City &amp; Traffic Management Authorities – for congestion monitoring and planning.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84081" y="1000125"/>
            <a:ext cx="5119839" cy="752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End user of project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60649" y="638202"/>
            <a:ext cx="4626402" cy="752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Technology 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36246" y="3509385"/>
            <a:ext cx="11815507" cy="320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watsonx.ai </a:t>
            </a:r>
            <a:r>
              <a:rPr lang="en-US" sz="2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Foundation models (Granite Model) for traffic intelligence</a:t>
            </a:r>
          </a:p>
          <a:p>
            <a:pPr marL="470535" lvl="1" indent="-235268" algn="l">
              <a:lnSpc>
                <a:spcPts val="3640"/>
              </a:lnSpc>
              <a:buFont typeface="Arial"/>
              <a:buChar char="•"/>
            </a:pPr>
            <a:r>
              <a:rPr lang="en-US" sz="26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2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Visual orchestration of multi-agent AI workflows</a:t>
            </a:r>
          </a:p>
          <a:p>
            <a:pPr marL="470535" lvl="1" indent="-235268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Agentic AI Architecture </a:t>
            </a:r>
            <a:r>
              <a:rPr lang="en-US" sz="2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Specialized agents for analysis, risk detection, and alerts</a:t>
            </a:r>
          </a:p>
          <a:p>
            <a:pPr marL="470535" lvl="1" indent="-235268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(RAG) </a:t>
            </a:r>
            <a:r>
              <a:rPr lang="en-US" sz="2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Context-aware, grounded responses</a:t>
            </a:r>
          </a:p>
          <a:p>
            <a:pPr marL="470535" lvl="1" indent="-235268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 Models </a:t>
            </a:r>
            <a:r>
              <a:rPr lang="en-US" sz="2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Vectorizing traffic guidelines and knowledge</a:t>
            </a:r>
          </a:p>
          <a:p>
            <a:pPr marL="470535" lvl="1" indent="-235268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Astra DB (Vector Database) </a:t>
            </a:r>
            <a:r>
              <a:rPr lang="en-US" sz="2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Storage and retrieval of traffic knowledge</a:t>
            </a:r>
          </a:p>
          <a:p>
            <a:pPr marL="470535" lvl="1" indent="-235268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 Engineering </a:t>
            </a:r>
            <a:r>
              <a:rPr lang="en-US" sz="2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Controlled, structured alert-based outputs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65233" y="323850"/>
            <a:ext cx="6557524" cy="106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1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Novelty and Uniqueness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04733" y="2131506"/>
            <a:ext cx="13878534" cy="594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Agentic AI architecture where each AI agent independently analyzes, predicts, and plans traffic decisions instead of using a single monolithic model.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congestion risk prediction that identifies traffic escalation before severe congestion occurs, not just after it happens.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traffic alerts that clearly state why congestion is occurring (time, weather, density, patterns).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(RAG) to ground traffic decisions using stored traffic guidelines and historical knowledge, reducing vague guesses.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Geographically accurate route intelligence that adapts suggestions based on the exact city, area, state, or country mentioned.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Strict, structured ALERT-based output format, making responses instantly readable and commuter-friendly.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104491" y="1596451"/>
            <a:ext cx="12079017" cy="7876828"/>
          </a:xfrm>
          <a:custGeom>
            <a:avLst/>
            <a:gdLst/>
            <a:ahLst/>
            <a:cxnLst/>
            <a:rect l="l" t="t" r="r" b="b"/>
            <a:pathLst>
              <a:path w="12079017" h="7876828">
                <a:moveTo>
                  <a:pt x="0" y="0"/>
                </a:moveTo>
                <a:lnTo>
                  <a:pt x="12079018" y="0"/>
                </a:lnTo>
                <a:lnTo>
                  <a:pt x="12079018" y="7876828"/>
                </a:lnTo>
                <a:lnTo>
                  <a:pt x="0" y="7876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6" t="-8608" r="-330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2815974" y="323303"/>
            <a:ext cx="12656043" cy="106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1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flow diagram - Architecture blueprint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79849" y="638202"/>
            <a:ext cx="7418963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Langflow Components Used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9188" y="2131506"/>
            <a:ext cx="7309623" cy="594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 Input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 Template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 Model (IBM Granite / </a:t>
            </a:r>
            <a:r>
              <a:rPr lang="en-US" sz="27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Watsonx</a:t>
            </a: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AI)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Data Analysis Agent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Congestion Risk Detection Agent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 &amp; Route Planning Assistant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Guidelines File Reader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Text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 Model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Store (Astra DB)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 Vector Retriever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 Output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028700" y="1244681"/>
            <a:ext cx="16678150" cy="8013619"/>
          </a:xfrm>
          <a:custGeom>
            <a:avLst/>
            <a:gdLst/>
            <a:ahLst/>
            <a:cxnLst/>
            <a:rect l="l" t="t" r="r" b="b"/>
            <a:pathLst>
              <a:path w="16678150" h="8013619">
                <a:moveTo>
                  <a:pt x="0" y="0"/>
                </a:moveTo>
                <a:lnTo>
                  <a:pt x="16678150" y="0"/>
                </a:lnTo>
                <a:lnTo>
                  <a:pt x="16678150" y="8013619"/>
                </a:lnTo>
                <a:lnTo>
                  <a:pt x="0" y="8013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688" b="-721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59359" y="457173"/>
            <a:ext cx="26978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Screenshot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094032" y="1288843"/>
            <a:ext cx="9530964" cy="7709313"/>
            <a:chOff x="0" y="0"/>
            <a:chExt cx="17692014" cy="143105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691988" cy="14310478"/>
            </a:xfrm>
            <a:custGeom>
              <a:avLst/>
              <a:gdLst/>
              <a:ahLst/>
              <a:cxnLst/>
              <a:rect l="l" t="t" r="r" b="b"/>
              <a:pathLst>
                <a:path w="17691988" h="14310478">
                  <a:moveTo>
                    <a:pt x="0" y="0"/>
                  </a:moveTo>
                  <a:lnTo>
                    <a:pt x="17691988" y="0"/>
                  </a:lnTo>
                  <a:lnTo>
                    <a:pt x="17691988" y="14310478"/>
                  </a:lnTo>
                  <a:lnTo>
                    <a:pt x="0" y="14310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" r="-22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503692" y="457173"/>
            <a:ext cx="2822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Screenshot 2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51660" y="75348"/>
            <a:ext cx="10029361" cy="4672685"/>
            <a:chOff x="0" y="0"/>
            <a:chExt cx="17692014" cy="8242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91988" cy="8242681"/>
            </a:xfrm>
            <a:custGeom>
              <a:avLst/>
              <a:gdLst/>
              <a:ahLst/>
              <a:cxnLst/>
              <a:rect l="l" t="t" r="r" b="b"/>
              <a:pathLst>
                <a:path w="17691988" h="8242681">
                  <a:moveTo>
                    <a:pt x="0" y="0"/>
                  </a:moveTo>
                  <a:lnTo>
                    <a:pt x="17691988" y="0"/>
                  </a:lnTo>
                  <a:lnTo>
                    <a:pt x="17691988" y="8242681"/>
                  </a:lnTo>
                  <a:lnTo>
                    <a:pt x="0" y="8242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237" r="-82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98" r="-798" b="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851660" y="5033133"/>
            <a:ext cx="10029361" cy="4672685"/>
            <a:chOff x="0" y="0"/>
            <a:chExt cx="17692014" cy="82427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691988" cy="8242681"/>
            </a:xfrm>
            <a:custGeom>
              <a:avLst/>
              <a:gdLst/>
              <a:ahLst/>
              <a:cxnLst/>
              <a:rect l="l" t="t" r="r" b="b"/>
              <a:pathLst>
                <a:path w="17691988" h="8242681">
                  <a:moveTo>
                    <a:pt x="0" y="0"/>
                  </a:moveTo>
                  <a:lnTo>
                    <a:pt x="17691988" y="0"/>
                  </a:lnTo>
                  <a:lnTo>
                    <a:pt x="17691988" y="8242681"/>
                  </a:lnTo>
                  <a:lnTo>
                    <a:pt x="0" y="8242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013" b="-7013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503692" y="457173"/>
            <a:ext cx="2822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Screenshot 3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22481" y="685800"/>
            <a:ext cx="3643028" cy="106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1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Scope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05436" y="3121958"/>
            <a:ext cx="11235406" cy="346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real-time traffic APIs (Google Maps, TomTom, OpenStreetMap) for live congestion data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to multimodal routing (metro, buses, ride-sharing, walking)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voice-based alerts and mobile notifications for commuters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as a smart city dashboard for traffic authorities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RAG with live sensor, CCTV, and IoT data feeds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global cities with localized traffic rules and road intelligence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86720" y="685800"/>
            <a:ext cx="3914551" cy="106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1"/>
              </a:lnSpc>
            </a:pPr>
            <a:r>
              <a:rPr lang="en-US" sz="4800" b="1">
                <a:solidFill>
                  <a:srgbClr val="051D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 Hub Link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58702" y="4417427"/>
            <a:ext cx="8170596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 u="sng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github.com/ihaarao/ai-traffic-alert-routing-system"/>
              </a:rPr>
              <a:t>https://github.com/ihaarao/ai-traffic-alert-routing-system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28086" y="4830775"/>
            <a:ext cx="11202829" cy="135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28086" y="6383645"/>
            <a:ext cx="11202829" cy="135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28086" y="7936516"/>
            <a:ext cx="11202829" cy="784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05836" y="323303"/>
            <a:ext cx="3276318" cy="106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1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 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267195" y="2400300"/>
            <a:ext cx="9753600" cy="49604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watsonx.ai Documentation</a:t>
            </a:r>
          </a:p>
          <a:p>
            <a:pPr algn="just">
              <a:lnSpc>
                <a:spcPts val="3919"/>
              </a:lnSpc>
            </a:pPr>
            <a:r>
              <a:rPr lang="en-US" sz="2799" u="sng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https://www.ibm.com/docs/en/watsonx-ai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Granite Foundation Models</a:t>
            </a:r>
          </a:p>
          <a:p>
            <a:pPr algn="just">
              <a:lnSpc>
                <a:spcPts val="3919"/>
              </a:lnSpc>
            </a:pPr>
            <a:r>
              <a:rPr lang="en-US" sz="2799" u="sng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https://www.ibm.com/watsonx/granite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Congestion Analysis Concepts</a:t>
            </a:r>
          </a:p>
          <a:p>
            <a:pPr algn="just">
              <a:lnSpc>
                <a:spcPts val="3919"/>
              </a:lnSpc>
            </a:pPr>
            <a:r>
              <a:rPr lang="en-US" sz="2799" u="sng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https://www.sciencedirect.com/topics/engineering/traffic-congestion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Urban Traffic Pattern Studies (IEEE)</a:t>
            </a:r>
          </a:p>
          <a:p>
            <a:pPr algn="just">
              <a:lnSpc>
                <a:spcPts val="3919"/>
              </a:lnSpc>
            </a:pPr>
            <a:r>
              <a:rPr lang="en-US" sz="2799" u="sng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https://ieeexplore.ieee.org/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Maps Traffic Concepts (Reference only)</a:t>
            </a:r>
          </a:p>
          <a:p>
            <a:pPr algn="just">
              <a:lnSpc>
                <a:spcPts val="3919"/>
              </a:lnSpc>
            </a:pPr>
            <a:r>
              <a:rPr lang="en-US" sz="2799" u="sng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https://developers.google.com/maps/documentation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85449"/>
            <a:ext cx="18288000" cy="3716093"/>
            <a:chOff x="0" y="0"/>
            <a:chExt cx="24384000" cy="49547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4954778"/>
            </a:xfrm>
            <a:custGeom>
              <a:avLst/>
              <a:gdLst/>
              <a:ahLst/>
              <a:cxnLst/>
              <a:rect l="l" t="t" r="r" b="b"/>
              <a:pathLst>
                <a:path w="24384000" h="4954778">
                  <a:moveTo>
                    <a:pt x="0" y="0"/>
                  </a:moveTo>
                  <a:lnTo>
                    <a:pt x="24384000" y="0"/>
                  </a:lnTo>
                  <a:lnTo>
                    <a:pt x="24384000" y="4954778"/>
                  </a:lnTo>
                  <a:lnTo>
                    <a:pt x="0" y="4954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823</Words>
  <Application>Microsoft Office PowerPoint</Application>
  <PresentationFormat>Custom</PresentationFormat>
  <Paragraphs>135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Arimo</vt:lpstr>
      <vt:lpstr>Calibri (MS)</vt:lpstr>
      <vt:lpstr>Calibri</vt:lpstr>
      <vt:lpstr>Arial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Hackthon Project Presentation Template.pptx</dc:title>
  <dc:creator>Iha Rao</dc:creator>
  <cp:lastModifiedBy>iha rao</cp:lastModifiedBy>
  <cp:revision>4</cp:revision>
  <dcterms:created xsi:type="dcterms:W3CDTF">2006-08-16T00:00:00Z</dcterms:created>
  <dcterms:modified xsi:type="dcterms:W3CDTF">2026-02-03T18:29:18Z</dcterms:modified>
  <dc:identifier>DAG__oyFKP4</dc:identifier>
</cp:coreProperties>
</file>